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A"/>
          <p:cNvSpPr/>
          <p:nvPr/>
        </p:nvSpPr>
        <p:spPr>
          <a:xfrm>
            <a:off x="914400" y="1463040"/>
            <a:ext cx="4572000" cy="4572000"/>
          </a:xfrm>
          <a:prstGeom prst="ellipse">
            <a:avLst/>
          </a:prstGeom>
          <a:solidFill>
            <a:srgbClr val="A855F7">
              <a:alpha val="30000"/>
            </a:srgbClr>
          </a:solidFill>
          <a:ln/>
          <a:effectLst>
            <a:outerShdw sx="100000" sy="100000" kx="0" ky="0" algn="bl" rotWithShape="0" blurRad="1270000" dist="50800" dir="16200000">
              <a:srgbClr val="A855F7">
                <a:alpha val="65000"/>
              </a:srgbClr>
            </a:outerShdw>
          </a:effectLst>
        </p:spPr>
      </p:sp>
      <p:sp>
        <p:nvSpPr>
          <p:cNvPr id="3" name="OrbB"/>
          <p:cNvSpPr/>
          <p:nvPr/>
        </p:nvSpPr>
        <p:spPr>
          <a:xfrm>
            <a:off x="10058400" y="457200"/>
            <a:ext cx="2286000" cy="2286000"/>
          </a:xfrm>
          <a:prstGeom prst="ellipse">
            <a:avLst/>
          </a:prstGeom>
          <a:solidFill>
            <a:srgbClr val="EC4899">
              <a:alpha val="20000"/>
            </a:srgbClr>
          </a:solidFill>
          <a:ln/>
          <a:effectLst>
            <a:outerShdw sx="100000" sy="100000" kx="0" ky="0" algn="bl" rotWithShape="0" blurRad="1270000" dist="50800" dir="16200000">
              <a:srgbClr val="EC4899">
                <a:alpha val="5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937760" y="109728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spc="6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מצגת אבן דרך  ·  פרויקט גמר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4023360" cy="4023360"/>
          </a:xfrm>
          <a:prstGeom prst="ellipse">
            <a:avLst/>
          </a:prstGeom>
          <a:solidFill>
            <a:srgbClr val="A855F7">
              <a:alpha val="22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  <a:effectLst>
            <a:outerShdw sx="100000" sy="100000" kx="0" ky="0" algn="bl" rotWithShape="0" blurRad="508000" dist="50800" dir="16200000">
              <a:srgbClr val="A855F7">
                <a:alpha val="8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71600"/>
            <a:ext cx="4023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₿</a:t>
            </a:r>
            <a:endParaRPr lang="en-US" sz="23000" dirty="0"/>
          </a:p>
        </p:txBody>
      </p:sp>
      <p:sp>
        <p:nvSpPr>
          <p:cNvPr id="7" name="Text 5"/>
          <p:cNvSpPr/>
          <p:nvPr/>
        </p:nvSpPr>
        <p:spPr>
          <a:xfrm>
            <a:off x="4937760" y="150876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en-US" sz="5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זיהוי הונאות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4937760" y="242316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5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ברשת מסחר ביטקוין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4937760" y="3520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ניתוח רשתות אמון ב־Bitcoin OTC לאיתור קהילות זדוניות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937760" y="4297680"/>
            <a:ext cx="7040880" cy="1417320"/>
          </a:xfrm>
          <a:prstGeom prst="roundRect">
            <a:avLst>
              <a:gd name="adj" fmla="val 11613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0" y="4334256"/>
            <a:ext cx="685800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43891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spc="4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 הפרויקט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120640" y="470916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[שם 1]   ·   [שם 2]   ·   [שם 3]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120640" y="52120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המכללה האקדמית רופין  ·  מדעי המחשב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3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10</a:t>
            </a:r>
            <a:endParaRPr lang="en-US" sz="1000" dirty="0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A"/>
          <p:cNvSpPr/>
          <p:nvPr/>
        </p:nvSpPr>
        <p:spPr>
          <a:xfrm>
            <a:off x="8686800" y="-914400"/>
            <a:ext cx="5029200" cy="5029200"/>
          </a:xfrm>
          <a:prstGeom prst="ellipse">
            <a:avLst/>
          </a:prstGeom>
          <a:solidFill>
            <a:srgbClr val="A855F7">
              <a:alpha val="24000"/>
            </a:srgbClr>
          </a:solidFill>
          <a:ln/>
          <a:effectLst>
            <a:outerShdw sx="100000" sy="100000" kx="0" ky="0" algn="bl" rotWithShape="0" blurRad="1270000" dist="50800" dir="16200000">
              <a:srgbClr val="A855F7">
                <a:alpha val="65000"/>
              </a:srgbClr>
            </a:outerShdw>
          </a:effectLst>
        </p:spPr>
      </p:sp>
      <p:sp>
        <p:nvSpPr>
          <p:cNvPr id="3" name="OrbB"/>
          <p:cNvSpPr/>
          <p:nvPr/>
        </p:nvSpPr>
        <p:spPr>
          <a:xfrm>
            <a:off x="-1371600" y="5029200"/>
            <a:ext cx="4114800" cy="4114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  <a:effectLst>
            <a:outerShdw sx="100000" sy="100000" kx="0" ky="0" algn="bl" rotWithShape="0" blurRad="1270000" dist="50800" dir="16200000">
              <a:srgbClr val="EC4899">
                <a:alpha val="5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32004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BITCOIN OTC  ·  ניתוח רשתות אמון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מבוא — הבעיה והרעיון המרכזי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11750040" y="1280160"/>
            <a:ext cx="109728" cy="109728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Ruppin Academic College  ·  Milestone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11064240" cy="1417320"/>
          </a:xfrm>
          <a:prstGeom prst="roundRect">
            <a:avLst>
              <a:gd name="adj" fmla="val 11613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728216"/>
            <a:ext cx="1088136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475720" y="1801368"/>
            <a:ext cx="64008" cy="119786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835640" y="214884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16200000">
              <a:srgbClr val="A855F7">
                <a:alpha val="8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835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" y="185623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" y="2350008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מסחר בביטקוין הוא אנונימי לחלוטין — איך אפשר לדעת על מי לסמוך בפלטפורמות מסחר אישי (P2P)?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64240" cy="1417320"/>
          </a:xfrm>
          <a:prstGeom prst="roundRect">
            <a:avLst>
              <a:gd name="adj" fmla="val 11613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310128"/>
            <a:ext cx="1088136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475720" y="3383280"/>
            <a:ext cx="64008" cy="119786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10835640" y="3730752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16200000">
              <a:srgbClr val="A855F7">
                <a:alpha val="8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835640" y="3730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" y="3438144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הרעיון המרכזי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22960" y="3931920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פלטפורמות כמו Bitcoin OTC יצרו רשתות אמון (Web of Trust): משתמשים מדרגים זה את זה לאחר כל עסקה.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855464"/>
            <a:ext cx="11064240" cy="1417320"/>
          </a:xfrm>
          <a:prstGeom prst="roundRect">
            <a:avLst>
              <a:gd name="adj" fmla="val 11613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4892040"/>
            <a:ext cx="1088136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475720" y="4965192"/>
            <a:ext cx="64008" cy="1197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6" name="Shape 24"/>
          <p:cNvSpPr/>
          <p:nvPr/>
        </p:nvSpPr>
        <p:spPr>
          <a:xfrm>
            <a:off x="10835640" y="5312664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16200000">
              <a:srgbClr val="A855F7">
                <a:alpha val="8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835640" y="5312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22960" y="5020056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האתגר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22960" y="55138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נוכלים יוצרים משתמשים פיקטיביים שמדרגים זה את זה חיובית (Sybil Attack), נראים אמינים — ואז עוקצים.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p159:dur="1500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A"/>
          <p:cNvSpPr/>
          <p:nvPr/>
        </p:nvSpPr>
        <p:spPr>
          <a:xfrm>
            <a:off x="8229600" y="4114800"/>
            <a:ext cx="5029200" cy="5029200"/>
          </a:xfrm>
          <a:prstGeom prst="ellipse">
            <a:avLst/>
          </a:prstGeom>
          <a:solidFill>
            <a:srgbClr val="A855F7">
              <a:alpha val="24000"/>
            </a:srgbClr>
          </a:solidFill>
          <a:ln/>
          <a:effectLst>
            <a:outerShdw sx="100000" sy="100000" kx="0" ky="0" algn="bl" rotWithShape="0" blurRad="1270000" dist="50800" dir="16200000">
              <a:srgbClr val="A855F7">
                <a:alpha val="65000"/>
              </a:srgbClr>
            </a:outerShdw>
          </a:effectLst>
        </p:spPr>
      </p:sp>
      <p:sp>
        <p:nvSpPr>
          <p:cNvPr id="3" name="OrbB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2D3EE">
              <a:alpha val="16000"/>
            </a:srgbClr>
          </a:solidFill>
          <a:ln/>
          <a:effectLst>
            <a:outerShdw sx="100000" sy="100000" kx="0" ky="0" algn="bl" rotWithShape="0" blurRad="1270000" dist="50800" dir="16200000">
              <a:srgbClr val="22D3EE">
                <a:alpha val="5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32004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BITCOIN OTC  ·  ניתוח רשתות אמון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כיווני מחקר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11750040" y="1280160"/>
            <a:ext cx="109728" cy="109728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Ruppin Academic College  ·  Milestone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955280" y="1691640"/>
            <a:ext cx="3657600" cy="3200400"/>
          </a:xfrm>
          <a:prstGeom prst="roundRect">
            <a:avLst>
              <a:gd name="adj" fmla="val 5143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46720" y="1728216"/>
            <a:ext cx="34747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9966960" y="196596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400" dirty="0"/>
          </a:p>
        </p:txBody>
      </p:sp>
      <p:sp>
        <p:nvSpPr>
          <p:cNvPr id="12" name="Shape 10"/>
          <p:cNvSpPr/>
          <p:nvPr/>
        </p:nvSpPr>
        <p:spPr>
          <a:xfrm>
            <a:off x="10789920" y="3108960"/>
            <a:ext cx="548640" cy="3657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שאלת מחקר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35661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האם ניתן להפריד בין משתמשים אמינים לנוכלים, רק לפי המבנה הטופולוגי של הרשת — ללא מידע חיצוני?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33088" y="1691640"/>
            <a:ext cx="3657600" cy="3200400"/>
          </a:xfrm>
          <a:prstGeom prst="roundRect">
            <a:avLst>
              <a:gd name="adj" fmla="val 5143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24528" y="1728216"/>
            <a:ext cx="34747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144768" y="196596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400" dirty="0"/>
          </a:p>
        </p:txBody>
      </p:sp>
      <p:sp>
        <p:nvSpPr>
          <p:cNvPr id="18" name="Shape 16"/>
          <p:cNvSpPr/>
          <p:nvPr/>
        </p:nvSpPr>
        <p:spPr>
          <a:xfrm>
            <a:off x="6967728" y="3108960"/>
            <a:ext cx="548640" cy="3657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9" name="Text 17"/>
          <p:cNvSpPr/>
          <p:nvPr/>
        </p:nvSpPr>
        <p:spPr>
          <a:xfrm>
            <a:off x="440740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שאלת מחקר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407408" y="35661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כיצד לזהות קהילות קטנות של נוכלים (Cliques) שמייצרות לעצמן מוניטין מזויף?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10896" y="1691640"/>
            <a:ext cx="3657600" cy="3200400"/>
          </a:xfrm>
          <a:prstGeom prst="roundRect">
            <a:avLst>
              <a:gd name="adj" fmla="val 5143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02336" y="1728216"/>
            <a:ext cx="34747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2322576" y="196596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400" dirty="0"/>
          </a:p>
        </p:txBody>
      </p:sp>
      <p:sp>
        <p:nvSpPr>
          <p:cNvPr id="24" name="Shape 22"/>
          <p:cNvSpPr/>
          <p:nvPr/>
        </p:nvSpPr>
        <p:spPr>
          <a:xfrm>
            <a:off x="3145536" y="3108960"/>
            <a:ext cx="548640" cy="3657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5" name="Text 23"/>
          <p:cNvSpPr/>
          <p:nvPr/>
        </p:nvSpPr>
        <p:spPr>
          <a:xfrm>
            <a:off x="585216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שאלת מחקר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85216" y="35661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כיצד ניתן לחזות האם קשת עתידית בין שני משתמשים תהיה אמינה — או הונאה?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15652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5157216"/>
            <a:ext cx="1088136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475720" y="5212080"/>
            <a:ext cx="64008" cy="86868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2303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spc="4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מטרת העל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55321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פיתוח מודל לחיזוי אמינות קשרים עתידיים בין משתמשים — חיובית או שלילית.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p159:dur="1500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A"/>
          <p:cNvSpPr/>
          <p:nvPr/>
        </p:nvSpPr>
        <p:spPr>
          <a:xfrm>
            <a:off x="-1828800" y="1828800"/>
            <a:ext cx="5029200" cy="5029200"/>
          </a:xfrm>
          <a:prstGeom prst="ellipse">
            <a:avLst/>
          </a:prstGeom>
          <a:solidFill>
            <a:srgbClr val="A855F7">
              <a:alpha val="24000"/>
            </a:srgbClr>
          </a:solidFill>
          <a:ln/>
          <a:effectLst>
            <a:outerShdw sx="100000" sy="100000" kx="0" ky="0" algn="bl" rotWithShape="0" blurRad="1270000" dist="50800" dir="16200000">
              <a:srgbClr val="A855F7">
                <a:alpha val="65000"/>
              </a:srgbClr>
            </a:outerShdw>
          </a:effectLst>
        </p:spPr>
      </p:sp>
      <p:sp>
        <p:nvSpPr>
          <p:cNvPr id="3" name="OrbB"/>
          <p:cNvSpPr/>
          <p:nvPr/>
        </p:nvSpPr>
        <p:spPr>
          <a:xfrm>
            <a:off x="9601200" y="3200400"/>
            <a:ext cx="4114800" cy="4114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  <a:effectLst>
            <a:outerShdw sx="100000" sy="100000" kx="0" ky="0" algn="bl" rotWithShape="0" blurRad="1270000" dist="50800" dir="16200000">
              <a:srgbClr val="EC4899">
                <a:alpha val="5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32004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BITCOIN OTC  ·  ניתוח רשתות אמון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הדאטה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11750040" y="1280160"/>
            <a:ext cx="109728" cy="109728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Ruppin Academic College  ·  Milestone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486400" cy="4572000"/>
          </a:xfrm>
          <a:prstGeom prst="roundRect">
            <a:avLst>
              <a:gd name="adj" fmla="val 36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728216"/>
            <a:ext cx="53035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874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 הנתונים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0" y="2194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Stanford SNAP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00800" y="2743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Bitcoin OTC trust weighted signed network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869680" y="33832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6K+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869680" y="4160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צמתים (משתמשים)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3832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35K+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0" y="4160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קשתות (דירוגים)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4846320"/>
            <a:ext cx="4937760" cy="36576"/>
          </a:xfrm>
          <a:prstGeom prst="rect">
            <a:avLst/>
          </a:prstGeom>
          <a:solidFill>
            <a:srgbClr val="A855F7">
              <a:alpha val="5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טווח זמן: 2010 – 2016  ·  היסטוריה אמיתית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5394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דירוגים בטווח −10 (חוסר אמון מוחלט) עד +10 (אמון מלא).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1691640"/>
            <a:ext cx="5440680" cy="4572000"/>
          </a:xfrm>
          <a:prstGeom prst="roundRect">
            <a:avLst>
              <a:gd name="adj" fmla="val 36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1728216"/>
            <a:ext cx="525780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1874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עמודות הדאטה (Meta-data)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160520" y="2441448"/>
            <a:ext cx="1691640" cy="548640"/>
          </a:xfrm>
          <a:prstGeom prst="roundRect">
            <a:avLst>
              <a:gd name="adj" fmla="val 13333"/>
            </a:avLst>
          </a:prstGeom>
          <a:solidFill>
            <a:srgbClr val="22D3EE">
              <a:alpha val="25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60520" y="244144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" y="247802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המשתמש המדרג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160520" y="3310128"/>
            <a:ext cx="1691640" cy="548640"/>
          </a:xfrm>
          <a:prstGeom prst="roundRect">
            <a:avLst>
              <a:gd name="adj" fmla="val 13333"/>
            </a:avLst>
          </a:prstGeom>
          <a:solidFill>
            <a:srgbClr val="A855F7">
              <a:alpha val="25000"/>
            </a:srgbClr>
          </a:solidFill>
          <a:ln w="12700">
            <a:solidFill>
              <a:srgbClr val="A855F7">
                <a:alpha val="6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60520" y="33101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77240" y="334670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המשתמש המדורג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160520" y="4178808"/>
            <a:ext cx="1691640" cy="548640"/>
          </a:xfrm>
          <a:prstGeom prst="roundRect">
            <a:avLst>
              <a:gd name="adj" fmla="val 13333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>
                <a:alpha val="6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60520" y="41788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7240" y="421538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הציון: −10 עד +10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160520" y="5047488"/>
            <a:ext cx="1691640" cy="548640"/>
          </a:xfrm>
          <a:prstGeom prst="roundRect">
            <a:avLst>
              <a:gd name="adj" fmla="val 13333"/>
            </a:avLst>
          </a:prstGeom>
          <a:solidFill>
            <a:srgbClr val="FBBF24">
              <a:alpha val="25000"/>
            </a:srgbClr>
          </a:solidFill>
          <a:ln w="12700">
            <a:solidFill>
              <a:srgbClr val="FBBF24">
                <a:alpha val="6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60520" y="50474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77240" y="508406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חותמת זמן (ניתוח כרונולוגי)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p159:dur="1500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A"/>
          <p:cNvSpPr/>
          <p:nvPr/>
        </p:nvSpPr>
        <p:spPr>
          <a:xfrm>
            <a:off x="3657600" y="-2286000"/>
            <a:ext cx="5486400" cy="5486400"/>
          </a:xfrm>
          <a:prstGeom prst="ellipse">
            <a:avLst/>
          </a:prstGeom>
          <a:solidFill>
            <a:srgbClr val="A855F7">
              <a:alpha val="24000"/>
            </a:srgbClr>
          </a:solidFill>
          <a:ln/>
          <a:effectLst>
            <a:outerShdw sx="100000" sy="100000" kx="0" ky="0" algn="bl" rotWithShape="0" blurRad="1270000" dist="50800" dir="16200000">
              <a:srgbClr val="A855F7">
                <a:alpha val="65000"/>
              </a:srgbClr>
            </a:outerShdw>
          </a:effectLst>
        </p:spPr>
      </p:sp>
      <p:sp>
        <p:nvSpPr>
          <p:cNvPr id="3" name="OrbB"/>
          <p:cNvSpPr/>
          <p:nvPr/>
        </p:nvSpPr>
        <p:spPr>
          <a:xfrm>
            <a:off x="3657600" y="5029200"/>
            <a:ext cx="5486400" cy="5486400"/>
          </a:xfrm>
          <a:prstGeom prst="ellipse">
            <a:avLst/>
          </a:prstGeom>
          <a:solidFill>
            <a:srgbClr val="EC4899">
              <a:alpha val="16000"/>
            </a:srgbClr>
          </a:solidFill>
          <a:ln/>
          <a:effectLst>
            <a:outerShdw sx="100000" sy="100000" kx="0" ky="0" algn="bl" rotWithShape="0" blurRad="1270000" dist="50800" dir="16200000">
              <a:srgbClr val="EC4899">
                <a:alpha val="5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32004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BITCOIN OTC  ·  ניתוח רשתות אמון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העבודה הנדרשת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11750040" y="1280160"/>
            <a:ext cx="109728" cy="109728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Ruppin Academic College  ·  Milestone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955280" y="1783080"/>
            <a:ext cx="3657600" cy="4114800"/>
          </a:xfrm>
          <a:prstGeom prst="roundRect">
            <a:avLst>
              <a:gd name="adj" fmla="val 45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46720" y="1819656"/>
            <a:ext cx="34747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0" y="19842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058400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600" dirty="0"/>
          </a:p>
        </p:txBody>
      </p:sp>
      <p:sp>
        <p:nvSpPr>
          <p:cNvPr id="13" name="Text 11"/>
          <p:cNvSpPr/>
          <p:nvPr/>
        </p:nvSpPr>
        <p:spPr>
          <a:xfrm>
            <a:off x="8229600" y="33375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טעינה וניקוי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0" y="3886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טעינת הנתונים, טיפול בערכים חסרים ואימות פורמט.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5257800"/>
            <a:ext cx="3108960" cy="411480"/>
          </a:xfrm>
          <a:prstGeom prst="roundRect">
            <a:avLst>
              <a:gd name="adj" fmla="val 17778"/>
            </a:avLst>
          </a:prstGeom>
          <a:solidFill>
            <a:srgbClr val="22D3EE">
              <a:alpha val="22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5257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pandas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16200000">
            <a:off x="7635240" y="3675888"/>
            <a:ext cx="329184" cy="329184"/>
          </a:xfrm>
          <a:prstGeom prst="triangle">
            <a:avLst/>
          </a:prstGeom>
          <a:solidFill>
            <a:srgbClr val="C084FC">
              <a:alpha val="7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187952" y="1783080"/>
            <a:ext cx="3657600" cy="4114800"/>
          </a:xfrm>
          <a:prstGeom prst="roundRect">
            <a:avLst>
              <a:gd name="adj" fmla="val 45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279392" y="1819656"/>
            <a:ext cx="34747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291072" y="19842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91072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600" dirty="0"/>
          </a:p>
        </p:txBody>
      </p:sp>
      <p:sp>
        <p:nvSpPr>
          <p:cNvPr id="22" name="Text 20"/>
          <p:cNvSpPr/>
          <p:nvPr/>
        </p:nvSpPr>
        <p:spPr>
          <a:xfrm>
            <a:off x="4462272" y="33375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הרשת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462272" y="3886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המרת הדירוגים לגרף מכוון ושקול בעזרת NetworkX.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462272" y="5257800"/>
            <a:ext cx="3108960" cy="411480"/>
          </a:xfrm>
          <a:prstGeom prst="roundRect">
            <a:avLst>
              <a:gd name="adj" fmla="val 17778"/>
            </a:avLst>
          </a:prstGeom>
          <a:solidFill>
            <a:srgbClr val="A855F7">
              <a:alpha val="22000"/>
            </a:srgbClr>
          </a:solidFill>
          <a:ln w="12700">
            <a:solidFill>
              <a:srgbClr val="A855F7">
                <a:alpha val="6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62272" y="5257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NetworkX · DiGraph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rot="16200000">
            <a:off x="3867912" y="3675888"/>
            <a:ext cx="329184" cy="329184"/>
          </a:xfrm>
          <a:prstGeom prst="triangle">
            <a:avLst/>
          </a:prstGeom>
          <a:solidFill>
            <a:srgbClr val="C084FC">
              <a:alpha val="7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20624" y="1783080"/>
            <a:ext cx="3657600" cy="4114800"/>
          </a:xfrm>
          <a:prstGeom prst="roundRect">
            <a:avLst>
              <a:gd name="adj" fmla="val 45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12064" y="1819656"/>
            <a:ext cx="34747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2523744" y="19842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523744" y="2240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600" dirty="0"/>
          </a:p>
        </p:txBody>
      </p:sp>
      <p:sp>
        <p:nvSpPr>
          <p:cNvPr id="31" name="Text 29"/>
          <p:cNvSpPr/>
          <p:nvPr/>
        </p:nvSpPr>
        <p:spPr>
          <a:xfrm>
            <a:off x="694944" y="33375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פיצול הגרף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94944" y="38862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גרף 'אמון' (משקל &gt; 0) וגרף 'חוסר אמון' (משקל &lt; 0) — לתאימות לאלגוריתמים.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94944" y="5257800"/>
            <a:ext cx="3108960" cy="411480"/>
          </a:xfrm>
          <a:prstGeom prst="roundRect">
            <a:avLst>
              <a:gd name="adj" fmla="val 17778"/>
            </a:avLst>
          </a:prstGeom>
          <a:solidFill>
            <a:srgbClr val="EC4899">
              <a:alpha val="22000"/>
            </a:srgbClr>
          </a:solidFill>
          <a:ln w="12700">
            <a:solidFill>
              <a:srgbClr val="EC4899">
                <a:alpha val="6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" y="5257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Trust ↔ Distrust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p159:dur="1500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A"/>
          <p:cNvSpPr/>
          <p:nvPr/>
        </p:nvSpPr>
        <p:spPr>
          <a:xfrm>
            <a:off x="9601200" y="1828800"/>
            <a:ext cx="5029200" cy="5029200"/>
          </a:xfrm>
          <a:prstGeom prst="ellipse">
            <a:avLst/>
          </a:prstGeom>
          <a:solidFill>
            <a:srgbClr val="A855F7">
              <a:alpha val="24000"/>
            </a:srgbClr>
          </a:solidFill>
          <a:ln/>
          <a:effectLst>
            <a:outerShdw sx="100000" sy="100000" kx="0" ky="0" algn="bl" rotWithShape="0" blurRad="1270000" dist="50800" dir="16200000">
              <a:srgbClr val="A855F7">
                <a:alpha val="65000"/>
              </a:srgbClr>
            </a:outerShdw>
          </a:effectLst>
        </p:spPr>
      </p:sp>
      <p:sp>
        <p:nvSpPr>
          <p:cNvPr id="3" name="OrbB"/>
          <p:cNvSpPr/>
          <p:nvPr/>
        </p:nvSpPr>
        <p:spPr>
          <a:xfrm>
            <a:off x="-1828800" y="2743200"/>
            <a:ext cx="4114800" cy="4114800"/>
          </a:xfrm>
          <a:prstGeom prst="ellipse">
            <a:avLst/>
          </a:prstGeom>
          <a:solidFill>
            <a:srgbClr val="22D3EE">
              <a:alpha val="16000"/>
            </a:srgbClr>
          </a:solidFill>
          <a:ln/>
          <a:effectLst>
            <a:outerShdw sx="100000" sy="100000" kx="0" ky="0" algn="bl" rotWithShape="0" blurRad="1270000" dist="50800" dir="16200000">
              <a:srgbClr val="22D3EE">
                <a:alpha val="5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32004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BITCOIN OTC  ·  ניתוח רשתות אמון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אלגוריתמים ושיטות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11750040" y="1280160"/>
            <a:ext cx="109728" cy="109728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Ruppin Academic College  ·  Milestone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955280" y="1691640"/>
            <a:ext cx="3657600" cy="4297680"/>
          </a:xfrm>
          <a:prstGeom prst="roundRect">
            <a:avLst>
              <a:gd name="adj" fmla="val 45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46720" y="1728216"/>
            <a:ext cx="34747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119872" y="1856232"/>
            <a:ext cx="3328416" cy="5486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0" y="20208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CENTRALITY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0" y="23317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מדדי מרכזיות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229600" y="320040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22D3EE">
              <a:alpha val="20000"/>
            </a:srgbClr>
          </a:solidFill>
          <a:ln w="12700">
            <a:solidFill>
              <a:srgbClr val="22D3EE">
                <a:alpha val="5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3200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PageRank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37033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 רשת האמון — לזיהוי הגרעין האמין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0" y="44348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22D3EE">
              <a:alpha val="20000"/>
            </a:srgbClr>
          </a:solidFill>
          <a:ln w="12700">
            <a:solidFill>
              <a:srgbClr val="22D3EE">
                <a:alpha val="5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4434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In-Degree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0" y="49377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 רשת חוסר האמון — לאיתור נוכלים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87952" y="1691640"/>
            <a:ext cx="3657600" cy="4297680"/>
          </a:xfrm>
          <a:prstGeom prst="roundRect">
            <a:avLst>
              <a:gd name="adj" fmla="val 45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279392" y="1728216"/>
            <a:ext cx="34747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352544" y="1856232"/>
            <a:ext cx="3328416" cy="5486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3" name="Text 21"/>
          <p:cNvSpPr/>
          <p:nvPr/>
        </p:nvSpPr>
        <p:spPr>
          <a:xfrm>
            <a:off x="4462272" y="20208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COMMUNITY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62272" y="23317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זיהוי קהילות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4462272" y="320040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A855F7">
              <a:alpha val="20000"/>
            </a:srgbClr>
          </a:solidFill>
          <a:ln w="12700">
            <a:solidFill>
              <a:srgbClr val="A855F7">
                <a:alpha val="5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62272" y="3200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Louvain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462272" y="37033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לזיהוי קבוצות צפופות במהירות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462272" y="44348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A855F7">
              <a:alpha val="20000"/>
            </a:srgbClr>
          </a:solidFill>
          <a:ln w="12700">
            <a:solidFill>
              <a:srgbClr val="A855F7">
                <a:alpha val="5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62272" y="4434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Girvan-Newman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462272" y="49377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לאימות חתכי קצה חשודים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20624" y="1691640"/>
            <a:ext cx="3657600" cy="4297680"/>
          </a:xfrm>
          <a:prstGeom prst="roundRect">
            <a:avLst>
              <a:gd name="adj" fmla="val 45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12064" y="1728216"/>
            <a:ext cx="34747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85216" y="1856232"/>
            <a:ext cx="3328416" cy="5486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34" name="Text 32"/>
          <p:cNvSpPr/>
          <p:nvPr/>
        </p:nvSpPr>
        <p:spPr>
          <a:xfrm>
            <a:off x="694944" y="20208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PREDICTION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94944" y="23317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חיזוי קשרים</a:t>
            </a:r>
            <a:endParaRPr lang="en-US" sz="2600" dirty="0"/>
          </a:p>
        </p:txBody>
      </p:sp>
      <p:sp>
        <p:nvSpPr>
          <p:cNvPr id="36" name="Shape 34"/>
          <p:cNvSpPr/>
          <p:nvPr/>
        </p:nvSpPr>
        <p:spPr>
          <a:xfrm>
            <a:off x="694944" y="320040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EC4899">
              <a:alpha val="20000"/>
            </a:srgbClr>
          </a:solidFill>
          <a:ln w="12700">
            <a:solidFill>
              <a:srgbClr val="EC4899">
                <a:alpha val="5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" y="3200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Structural Balance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4944" y="37033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בהתבסס על משולשים ברשת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94944" y="44348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EC4899">
              <a:alpha val="20000"/>
            </a:srgbClr>
          </a:solidFill>
          <a:ln w="12700">
            <a:solidFill>
              <a:srgbClr val="EC4899">
                <a:alpha val="5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4944" y="4434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 Split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94944" y="49377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אימון על העבר, חיזוי על העתיד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p159:dur="1500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A"/>
          <p:cNvSpPr/>
          <p:nvPr/>
        </p:nvSpPr>
        <p:spPr>
          <a:xfrm>
            <a:off x="-914400" y="4114800"/>
            <a:ext cx="4572000" cy="4572000"/>
          </a:xfrm>
          <a:prstGeom prst="ellipse">
            <a:avLst/>
          </a:prstGeom>
          <a:solidFill>
            <a:srgbClr val="A855F7">
              <a:alpha val="24000"/>
            </a:srgbClr>
          </a:solidFill>
          <a:ln/>
          <a:effectLst>
            <a:outerShdw sx="100000" sy="100000" kx="0" ky="0" algn="bl" rotWithShape="0" blurRad="1270000" dist="50800" dir="16200000">
              <a:srgbClr val="A855F7">
                <a:alpha val="65000"/>
              </a:srgbClr>
            </a:outerShdw>
          </a:effectLst>
        </p:spPr>
      </p:sp>
      <p:sp>
        <p:nvSpPr>
          <p:cNvPr id="3" name="OrbB"/>
          <p:cNvSpPr/>
          <p:nvPr/>
        </p:nvSpPr>
        <p:spPr>
          <a:xfrm>
            <a:off x="8686800" y="-457200"/>
            <a:ext cx="4114800" cy="4114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  <a:effectLst>
            <a:outerShdw sx="100000" sy="100000" kx="0" ky="0" algn="bl" rotWithShape="0" blurRad="1270000" dist="50800" dir="16200000">
              <a:srgbClr val="EC4899">
                <a:alpha val="5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32004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BITCOIN OTC  ·  ניתוח רשתות אמון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סטטוס נוכחי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11750040" y="1280160"/>
            <a:ext cx="109728" cy="109728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Ruppin Academic College  ·  Milestone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486400" cy="4572000"/>
          </a:xfrm>
          <a:prstGeom prst="roundRect">
            <a:avLst>
              <a:gd name="adj" fmla="val 36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728216"/>
            <a:ext cx="53035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874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כבר השלמנו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018520" y="2377440"/>
            <a:ext cx="384048" cy="384048"/>
          </a:xfrm>
          <a:prstGeom prst="ellipse">
            <a:avLst/>
          </a:prstGeom>
          <a:solidFill>
            <a:srgbClr val="A855F7">
              <a:alpha val="5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01852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0" y="23317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טעינת הדאטה וניקוי הצליחו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1018520" y="3154680"/>
            <a:ext cx="384048" cy="384048"/>
          </a:xfrm>
          <a:prstGeom prst="ellipse">
            <a:avLst/>
          </a:prstGeom>
          <a:solidFill>
            <a:srgbClr val="A855F7">
              <a:alpha val="5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01852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0" y="310896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גרפי אמון וחוסר־אמון בעזרת NetworkX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018520" y="3931920"/>
            <a:ext cx="384048" cy="384048"/>
          </a:xfrm>
          <a:prstGeom prst="ellipse">
            <a:avLst/>
          </a:prstGeom>
          <a:solidFill>
            <a:srgbClr val="A855F7">
              <a:alpha val="5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01852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0" y="38862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 התפלגות דרגות (Degree Distribution)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1018520" y="4709160"/>
            <a:ext cx="384048" cy="384048"/>
          </a:xfrm>
          <a:prstGeom prst="ellipse">
            <a:avLst/>
          </a:prstGeom>
          <a:solidFill>
            <a:srgbClr val="A855F7">
              <a:alpha val="5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018520" y="4709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0" y="466344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ניתוח EDA ראשוני של הקשתות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1691640"/>
            <a:ext cx="5440680" cy="4572000"/>
          </a:xfrm>
          <a:prstGeom prst="roundRect">
            <a:avLst>
              <a:gd name="adj" fmla="val 36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1728216"/>
            <a:ext cx="525780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תובנה מרכזית מה־EDA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23317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90%+</a:t>
            </a:r>
            <a:endParaRPr lang="en-US" sz="8800" dirty="0"/>
          </a:p>
        </p:txBody>
      </p:sp>
      <p:sp>
        <p:nvSpPr>
          <p:cNvPr id="28" name="Text 26"/>
          <p:cNvSpPr/>
          <p:nvPr/>
        </p:nvSpPr>
        <p:spPr>
          <a:xfrm>
            <a:off x="777240" y="36118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מהקשתות ברשת חיוביות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371600" y="4160520"/>
            <a:ext cx="3794760" cy="36576"/>
          </a:xfrm>
          <a:prstGeom prst="rect">
            <a:avLst/>
          </a:prstGeom>
          <a:solidFill>
            <a:srgbClr val="A855F7">
              <a:alpha val="5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4389120"/>
            <a:ext cx="4800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הקשתות השליליות מתרכזות סביב קבוצה ספציפית של משתמשים בעלי In-Degree שלילי גבוה — בדיוק האזור שבו אנחנו מצפים למצוא נוכלים.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p159:dur="1500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A"/>
          <p:cNvSpPr/>
          <p:nvPr/>
        </p:nvSpPr>
        <p:spPr>
          <a:xfrm>
            <a:off x="1371600" y="-914400"/>
            <a:ext cx="5486400" cy="5486400"/>
          </a:xfrm>
          <a:prstGeom prst="ellipse">
            <a:avLst/>
          </a:prstGeom>
          <a:solidFill>
            <a:srgbClr val="A855F7">
              <a:alpha val="22000"/>
            </a:srgbClr>
          </a:solidFill>
          <a:ln/>
          <a:effectLst>
            <a:outerShdw sx="100000" sy="100000" kx="0" ky="0" algn="bl" rotWithShape="0" blurRad="1270000" dist="50800" dir="16200000">
              <a:srgbClr val="A855F7">
                <a:alpha val="65000"/>
              </a:srgbClr>
            </a:outerShdw>
          </a:effectLst>
        </p:spPr>
      </p:sp>
      <p:sp>
        <p:nvSpPr>
          <p:cNvPr id="3" name="OrbB"/>
          <p:cNvSpPr/>
          <p:nvPr/>
        </p:nvSpPr>
        <p:spPr>
          <a:xfrm>
            <a:off x="6858000" y="4114800"/>
            <a:ext cx="5029200" cy="50292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  <a:effectLst>
            <a:outerShdw sx="100000" sy="100000" kx="0" ky="0" algn="bl" rotWithShape="0" blurRad="1270000" dist="50800" dir="16200000">
              <a:srgbClr val="EC4899">
                <a:alpha val="5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32004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BITCOIN OTC  ·  ניתוח רשתות אמון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גישת הפתרון ואופן ההערכה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11750040" y="1280160"/>
            <a:ext cx="109728" cy="109728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Ruppin Academic College  ·  Milestone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49240" cy="3291840"/>
          </a:xfrm>
          <a:prstGeom prst="roundRect">
            <a:avLst>
              <a:gd name="adj" fmla="val 5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55080" y="1728216"/>
            <a:ext cx="516636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475720" y="1783080"/>
            <a:ext cx="64008" cy="310896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spc="3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האתגר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6520" y="21945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Ground Truth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46520" y="2926080"/>
            <a:ext cx="4937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רשימה של 100% מהנוכלים — ולכן אי אפשר לחשב Accuracy רגילה לאחוזי הצלחה.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1691640"/>
            <a:ext cx="5486400" cy="3291840"/>
          </a:xfrm>
          <a:prstGeom prst="roundRect">
            <a:avLst>
              <a:gd name="adj" fmla="val 5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1728216"/>
            <a:ext cx="53035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1783080"/>
            <a:ext cx="64008" cy="310896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1945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הצלבה (Cross-Validation)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31520" y="292608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בדיקה האם קהילות חשודות שזיהינו אכן קיבלו דירוגים שליליים מצמתים בעלי PageRank גבוה לאורך הזמן.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166360"/>
            <a:ext cx="11064240" cy="1143000"/>
          </a:xfrm>
          <a:prstGeom prst="roundRect">
            <a:avLst>
              <a:gd name="adj" fmla="val 144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5202936"/>
            <a:ext cx="1088136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2852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חלוקה לפי ציר הזמן  ·  Train / Test Split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429000" y="5715000"/>
            <a:ext cx="7955280" cy="320040"/>
          </a:xfrm>
          <a:prstGeom prst="roundRect">
            <a:avLst>
              <a:gd name="adj" fmla="val 14286"/>
            </a:avLst>
          </a:prstGeom>
          <a:solidFill>
            <a:srgbClr val="A855F7">
              <a:alpha val="7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5715000"/>
            <a:ext cx="2651760" cy="320040"/>
          </a:xfrm>
          <a:prstGeom prst="roundRect">
            <a:avLst>
              <a:gd name="adj" fmla="val 14286"/>
            </a:avLst>
          </a:prstGeom>
          <a:solidFill>
            <a:srgbClr val="FBBF24">
              <a:alpha val="7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571500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 ·  2011–2014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57150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 ·  2015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p159:dur="1500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A"/>
          <p:cNvSpPr/>
          <p:nvPr/>
        </p:nvSpPr>
        <p:spPr>
          <a:xfrm>
            <a:off x="6858000" y="914400"/>
            <a:ext cx="5486400" cy="5486400"/>
          </a:xfrm>
          <a:prstGeom prst="ellipse">
            <a:avLst/>
          </a:prstGeom>
          <a:solidFill>
            <a:srgbClr val="A855F7">
              <a:alpha val="24000"/>
            </a:srgbClr>
          </a:solidFill>
          <a:ln/>
          <a:effectLst>
            <a:outerShdw sx="100000" sy="100000" kx="0" ky="0" algn="bl" rotWithShape="0" blurRad="1270000" dist="50800" dir="16200000">
              <a:srgbClr val="A855F7">
                <a:alpha val="65000"/>
              </a:srgbClr>
            </a:outerShdw>
          </a:effectLst>
        </p:spPr>
      </p:sp>
      <p:sp>
        <p:nvSpPr>
          <p:cNvPr id="3" name="OrbB"/>
          <p:cNvSpPr/>
          <p:nvPr/>
        </p:nvSpPr>
        <p:spPr>
          <a:xfrm>
            <a:off x="-914400" y="2286000"/>
            <a:ext cx="3657600" cy="3657600"/>
          </a:xfrm>
          <a:prstGeom prst="ellipse">
            <a:avLst/>
          </a:prstGeom>
          <a:solidFill>
            <a:srgbClr val="22D3EE">
              <a:alpha val="16000"/>
            </a:srgbClr>
          </a:solidFill>
          <a:ln/>
          <a:effectLst>
            <a:outerShdw sx="100000" sy="100000" kx="0" ky="0" algn="bl" rotWithShape="0" blurRad="1270000" dist="50800" dir="16200000">
              <a:srgbClr val="22D3EE">
                <a:alpha val="5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32004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BITCOIN OTC  ·  ניתוח רשתות אמון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11430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תכנית פעולה  ·  עבודה שנותרה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11750040" y="1280160"/>
            <a:ext cx="109728" cy="109728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Ruppin Academic College  ·  Milestone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44768" y="1783080"/>
            <a:ext cx="5486400" cy="2194560"/>
          </a:xfrm>
          <a:prstGeom prst="roundRect">
            <a:avLst>
              <a:gd name="adj" fmla="val 75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6208" y="1819656"/>
            <a:ext cx="53035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853928" y="205740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16200000">
              <a:srgbClr val="A855F7">
                <a:alpha val="8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853928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64808" y="21488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סיום אלגוריתם זיהוי הקהילות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64808" y="27432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השלמת הרצת Louvain ומיפוי הקליקות החשודות.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1783080"/>
            <a:ext cx="5486400" cy="2194560"/>
          </a:xfrm>
          <a:prstGeom prst="roundRect">
            <a:avLst>
              <a:gd name="adj" fmla="val 75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1819656"/>
            <a:ext cx="53035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5257800" y="205740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16200000">
              <a:srgbClr val="A855F7">
                <a:alpha val="8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25780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68680" y="21488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יישום וחישוב חיזוי קשרים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8680" y="27432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אלגוריתם החיזוי + מדדי שגיאה (Precision / Recall / F1).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44768" y="4142232"/>
            <a:ext cx="5486400" cy="2194560"/>
          </a:xfrm>
          <a:prstGeom prst="roundRect">
            <a:avLst>
              <a:gd name="adj" fmla="val 75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36208" y="4178808"/>
            <a:ext cx="53035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853928" y="4416552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16200000">
              <a:srgbClr val="A855F7">
                <a:alpha val="8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853928" y="4416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64808" y="45079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מסקנות וויזואליזציות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64808" y="5102352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גרפים ברורים שתומכים בטיעונים — לצירוף לדוח.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142232"/>
            <a:ext cx="5486400" cy="2194560"/>
          </a:xfrm>
          <a:prstGeom prst="roundRect">
            <a:avLst>
              <a:gd name="adj" fmla="val 75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4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4178808"/>
            <a:ext cx="5303520" cy="18288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257800" y="4416552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152400" dist="50800" dir="16200000">
              <a:srgbClr val="A855F7">
                <a:alpha val="8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257800" y="4416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68680" y="45079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כתיבת דוח מסכם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68680" y="5102352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6–8 עמודים, כולל פירוט תרומת כל חבר צוות.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p159:dur="1500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A"/>
          <p:cNvSpPr/>
          <p:nvPr/>
        </p:nvSpPr>
        <p:spPr>
          <a:xfrm>
            <a:off x="2286000" y="-457200"/>
            <a:ext cx="7772400" cy="7772400"/>
          </a:xfrm>
          <a:prstGeom prst="ellipse">
            <a:avLst/>
          </a:prstGeom>
          <a:solidFill>
            <a:srgbClr val="A855F7">
              <a:alpha val="35000"/>
            </a:srgbClr>
          </a:solidFill>
          <a:ln/>
          <a:effectLst>
            <a:outerShdw sx="100000" sy="100000" kx="0" ky="0" algn="bl" rotWithShape="0" blurRad="1270000" dist="50800" dir="16200000">
              <a:srgbClr val="A855F7">
                <a:alpha val="65000"/>
              </a:srgbClr>
            </a:outerShdw>
          </a:effectLst>
        </p:spPr>
      </p:sp>
      <p:sp>
        <p:nvSpPr>
          <p:cNvPr id="3" name="OrbB"/>
          <p:cNvSpPr/>
          <p:nvPr/>
        </p:nvSpPr>
        <p:spPr>
          <a:xfrm>
            <a:off x="5029200" y="2286000"/>
            <a:ext cx="2286000" cy="2286000"/>
          </a:xfrm>
          <a:prstGeom prst="ellipse">
            <a:avLst/>
          </a:prstGeom>
          <a:solidFill>
            <a:srgbClr val="EC4899">
              <a:alpha val="22000"/>
            </a:srgbClr>
          </a:solidFill>
          <a:ln/>
          <a:effectLst>
            <a:outerShdw sx="100000" sy="100000" kx="0" ky="0" algn="bl" rotWithShape="0" blurRad="1270000" dist="50800" dir="16200000">
              <a:srgbClr val="EC4899">
                <a:alpha val="5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937760" y="1280160"/>
            <a:ext cx="2331720" cy="2331720"/>
          </a:xfrm>
          <a:prstGeom prst="ellipse">
            <a:avLst/>
          </a:prstGeom>
          <a:solidFill>
            <a:srgbClr val="A855F7">
              <a:alpha val="4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0" dist="50800" dir="16200000">
              <a:srgbClr val="A855F7">
                <a:alpha val="8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937760" y="1280160"/>
            <a:ext cx="2331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80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6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תודה על ההקשבה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48006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8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Bitcoin OTC  ·  ניתוח רשתות אמון  ·  המכללה האקדמית רופין</a:t>
            </a:r>
            <a:endParaRPr lang="en-US" sz="1100" dirty="0"/>
          </a:p>
        </p:txBody>
      </p:sp>
    </p:spTree>
  </p:cSld>
  <p:clrMapOvr>
    <a:masterClrMapping/>
  </p:clrMapOvr>
  <p:transition spd="slow">
    <p:fade thruBlk="1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Bitcoin OTC – Scam Detection</dc:title>
  <dc:subject>PptxGenJS Presentation</dc:subject>
  <dc:creator>StoryTeller</dc:creator>
  <cp:lastModifiedBy>StoryTeller</cp:lastModifiedBy>
  <cp:revision>1</cp:revision>
  <dcterms:created xsi:type="dcterms:W3CDTF">2026-05-07T12:30:01Z</dcterms:created>
  <dcterms:modified xsi:type="dcterms:W3CDTF">2026-05-07T12:30:01Z</dcterms:modified>
</cp:coreProperties>
</file>