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3" r:id="rId7"/>
    <p:sldId id="266" r:id="rId8"/>
    <p:sldId id="267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463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2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3793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bA"/>
          <p:cNvSpPr/>
          <p:nvPr/>
        </p:nvSpPr>
        <p:spPr>
          <a:xfrm>
            <a:off x="914400" y="1463040"/>
            <a:ext cx="4572000" cy="4572000"/>
          </a:xfrm>
          <a:prstGeom prst="ellipse">
            <a:avLst/>
          </a:prstGeom>
          <a:solidFill>
            <a:srgbClr val="A855F7">
              <a:alpha val="30000"/>
            </a:srgbClr>
          </a:solidFill>
          <a:ln/>
          <a:effectLst>
            <a:outerShdw blurRad="1270000" dist="50800" dir="16200000" algn="bl" rotWithShape="0">
              <a:srgbClr val="A855F7">
                <a:alpha val="6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" name="OrbB"/>
          <p:cNvSpPr/>
          <p:nvPr/>
        </p:nvSpPr>
        <p:spPr>
          <a:xfrm>
            <a:off x="10058400" y="457200"/>
            <a:ext cx="2286000" cy="2286000"/>
          </a:xfrm>
          <a:prstGeom prst="ellipse">
            <a:avLst/>
          </a:prstGeom>
          <a:solidFill>
            <a:srgbClr val="EC4899">
              <a:alpha val="20000"/>
            </a:srgbClr>
          </a:solidFill>
          <a:ln/>
          <a:effectLst>
            <a:outerShdw blurRad="1270000" dist="50800" dir="16200000" algn="bl" rotWithShape="0">
              <a:srgbClr val="EC4899">
                <a:alpha val="5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937760" y="109728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6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מצגת אבן דרך  ·  פרויקט גמר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4023360" cy="4023360"/>
          </a:xfrm>
          <a:prstGeom prst="ellipse">
            <a:avLst/>
          </a:prstGeom>
          <a:solidFill>
            <a:srgbClr val="A855F7">
              <a:alpha val="2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508000" dist="50800" dir="16200000" algn="bl" rotWithShape="0">
              <a:srgbClr val="A855F7">
                <a:alpha val="8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23000" dirty="0"/>
          </a:p>
        </p:txBody>
      </p:sp>
      <p:sp>
        <p:nvSpPr>
          <p:cNvPr id="7" name="Text 5"/>
          <p:cNvSpPr/>
          <p:nvPr/>
        </p:nvSpPr>
        <p:spPr>
          <a:xfrm>
            <a:off x="4937760" y="150876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 rtl="1">
              <a:buNone/>
            </a:pPr>
            <a:r>
              <a:rPr lang="en-US" sz="5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זיהוי הונאות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937760" y="242316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5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ברשת מסחר ביטקוין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937760" y="3520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רשתות אמון ב־Bitcoin OTC </a:t>
            </a:r>
            <a:r>
              <a:rPr lang="he-IL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לאיתור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קהילות זדוניות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37760" y="4297680"/>
            <a:ext cx="7040880" cy="1417320"/>
          </a:xfrm>
          <a:prstGeom prst="roundRect">
            <a:avLst>
              <a:gd name="adj" fmla="val 11613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0" dist="762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5029200" y="4334256"/>
            <a:ext cx="685800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5120640" y="43891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kern="0" spc="4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 הפרויקט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0" y="47091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נבו יפלח</a:t>
            </a: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he-IL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ליאל ירדני </a:t>
            </a: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</a:t>
            </a:r>
            <a:r>
              <a:rPr lang="he-IL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אילן </a:t>
            </a:r>
            <a:r>
              <a:rPr lang="he-IL" sz="2200" b="1" dirty="0" err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קוזוקרו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20640" y="52120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המכללה האקדמית רופין  ·  מדעי המחשב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10</a:t>
            </a:r>
            <a:endParaRPr lang="en-US" sz="1000" dirty="0"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bA"/>
          <p:cNvSpPr/>
          <p:nvPr/>
        </p:nvSpPr>
        <p:spPr>
          <a:xfrm>
            <a:off x="8686800" y="-914400"/>
            <a:ext cx="5029200" cy="5029200"/>
          </a:xfrm>
          <a:prstGeom prst="ellipse">
            <a:avLst/>
          </a:prstGeom>
          <a:solidFill>
            <a:srgbClr val="A855F7">
              <a:alpha val="24000"/>
            </a:srgbClr>
          </a:solidFill>
          <a:ln/>
          <a:effectLst>
            <a:outerShdw blurRad="1270000" dist="50800" dir="16200000" algn="bl" rotWithShape="0">
              <a:srgbClr val="A855F7">
                <a:alpha val="6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" name="OrbB"/>
          <p:cNvSpPr/>
          <p:nvPr/>
        </p:nvSpPr>
        <p:spPr>
          <a:xfrm>
            <a:off x="-1371600" y="5029200"/>
            <a:ext cx="4114800" cy="4114800"/>
          </a:xfrm>
          <a:prstGeom prst="ellipse">
            <a:avLst/>
          </a:prstGeom>
          <a:solidFill>
            <a:srgbClr val="EC4899">
              <a:alpha val="18000"/>
            </a:srgbClr>
          </a:solidFill>
          <a:ln/>
          <a:effectLst>
            <a:outerShdw blurRad="1270000" dist="50800" dir="16200000" algn="bl" rotWithShape="0">
              <a:srgbClr val="EC4899">
                <a:alpha val="5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kern="0" spc="5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OTC  ·  </a:t>
            </a:r>
            <a:r>
              <a:rPr lang="he-IL" sz="900" b="1" kern="0" spc="5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b="1" kern="0" spc="5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רשתות אמון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3800" b="1" dirty="0" err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מבוא</a:t>
            </a: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הבעיה והרעיון המרכזי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1750040" y="1280160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Ruppin Academic College  ·  Milestone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11064240" cy="1417320"/>
          </a:xfrm>
          <a:prstGeom prst="roundRect">
            <a:avLst>
              <a:gd name="adj" fmla="val 11613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0" dist="762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640080" y="1728216"/>
            <a:ext cx="1088136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1475720" y="1801368"/>
            <a:ext cx="64008" cy="1197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10835640" y="214884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C084FC"/>
            </a:solidFill>
            <a:prstDash val="solid"/>
          </a:ln>
          <a:effectLst>
            <a:outerShdw blurRad="152400" dist="50800" dir="16200000" algn="bl" rotWithShape="0">
              <a:srgbClr val="A855F7">
                <a:alpha val="8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108356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185623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הבעיה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960" y="2350008"/>
            <a:ext cx="9784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מסחר בביטקוין הוא אנונימי </a:t>
            </a:r>
            <a:r>
              <a:rPr lang="en-US" sz="14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לחלוטין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איך אפשר לדעת על מי לסמוך בפלטפורמות מסחר </a:t>
            </a:r>
            <a:r>
              <a:rPr lang="en-US" sz="14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אישי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(P2P)?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64240" cy="1417320"/>
          </a:xfrm>
          <a:prstGeom prst="roundRect">
            <a:avLst>
              <a:gd name="adj" fmla="val 11613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0" dist="762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640080" y="3310128"/>
            <a:ext cx="1088136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11475720" y="3383280"/>
            <a:ext cx="64008" cy="1197864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10835640" y="3730752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C084FC"/>
            </a:solidFill>
            <a:prstDash val="solid"/>
          </a:ln>
          <a:effectLst>
            <a:outerShdw blurRad="152400" dist="50800" dir="16200000" algn="bl" rotWithShape="0">
              <a:srgbClr val="A855F7">
                <a:alpha val="8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1083564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3438144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הרעיון המרכזי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2960" y="3931920"/>
            <a:ext cx="9784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פלטפורמות כמו Bitcoin OTC יצרו רשתות אמון (Web of Trust): משתמשים מדרגים זה את זה לאחר כל עסקה.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855464"/>
            <a:ext cx="11064240" cy="1417320"/>
          </a:xfrm>
          <a:prstGeom prst="roundRect">
            <a:avLst>
              <a:gd name="adj" fmla="val 11613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0" dist="762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640080" y="4892040"/>
            <a:ext cx="1088136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11475720" y="4965192"/>
            <a:ext cx="64008" cy="1197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10835640" y="5312664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C084FC"/>
            </a:solidFill>
            <a:prstDash val="solid"/>
          </a:ln>
          <a:effectLst>
            <a:outerShdw blurRad="152400" dist="50800" dir="16200000" algn="bl" rotWithShape="0">
              <a:srgbClr val="A855F7">
                <a:alpha val="8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10835640" y="5312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2960" y="5020056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האתגר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22960" y="5513832"/>
            <a:ext cx="9784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נוכלים יוצרים משתמשים פיקטיביים שמדרגים זה את זה חיובית (Sybil Attack), נראים </a:t>
            </a:r>
            <a:r>
              <a:rPr lang="en-US" sz="14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אמינים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ואז עוקצים.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bA"/>
          <p:cNvSpPr/>
          <p:nvPr/>
        </p:nvSpPr>
        <p:spPr>
          <a:xfrm>
            <a:off x="8229600" y="4114800"/>
            <a:ext cx="5029200" cy="5029200"/>
          </a:xfrm>
          <a:prstGeom prst="ellipse">
            <a:avLst/>
          </a:prstGeom>
          <a:solidFill>
            <a:srgbClr val="A855F7">
              <a:alpha val="24000"/>
            </a:srgbClr>
          </a:solidFill>
          <a:ln/>
          <a:effectLst>
            <a:outerShdw blurRad="1270000" dist="50800" dir="16200000" algn="bl" rotWithShape="0">
              <a:srgbClr val="A855F7">
                <a:alpha val="6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" name="OrbB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2D3EE">
              <a:alpha val="16000"/>
            </a:srgbClr>
          </a:solidFill>
          <a:ln/>
          <a:effectLst>
            <a:outerShdw blurRad="1270000" dist="50800" dir="16200000" algn="bl" rotWithShape="0">
              <a:srgbClr val="22D3EE">
                <a:alpha val="5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kern="0" spc="5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OTC  ·  </a:t>
            </a:r>
            <a:r>
              <a:rPr lang="he-IL" sz="900" b="1" kern="0" spc="5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b="1" kern="0" spc="5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רשתות אמון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כיווני מחקר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1750040" y="1280160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Ruppin Academic College  ·  Milestone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955280" y="1691640"/>
            <a:ext cx="3657600" cy="3200400"/>
          </a:xfrm>
          <a:prstGeom prst="roundRect">
            <a:avLst>
              <a:gd name="adj" fmla="val 5143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0" dist="762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8046720" y="1728216"/>
            <a:ext cx="347472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9966960" y="19659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400" dirty="0"/>
          </a:p>
        </p:txBody>
      </p:sp>
      <p:sp>
        <p:nvSpPr>
          <p:cNvPr id="12" name="Shape 10"/>
          <p:cNvSpPr/>
          <p:nvPr/>
        </p:nvSpPr>
        <p:spPr>
          <a:xfrm>
            <a:off x="10789920" y="3108960"/>
            <a:ext cx="548640" cy="36576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822960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kern="0" spc="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שאלת מחקר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3566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האם ניתן להפריד בין משתמשים אמינים לנוכלים, רק לפי המבנה הטופולוגי של </a:t>
            </a:r>
            <a:r>
              <a:rPr lang="en-US" sz="1400" dirty="0" err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הרשת</a:t>
            </a: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ללא מידע חיצוני?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33088" y="1691640"/>
            <a:ext cx="3657600" cy="3200400"/>
          </a:xfrm>
          <a:prstGeom prst="roundRect">
            <a:avLst>
              <a:gd name="adj" fmla="val 5143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0" dist="762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4224528" y="1728216"/>
            <a:ext cx="347472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6144768" y="19659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400" dirty="0"/>
          </a:p>
        </p:txBody>
      </p:sp>
      <p:sp>
        <p:nvSpPr>
          <p:cNvPr id="18" name="Shape 16"/>
          <p:cNvSpPr/>
          <p:nvPr/>
        </p:nvSpPr>
        <p:spPr>
          <a:xfrm>
            <a:off x="6967728" y="3108960"/>
            <a:ext cx="548640" cy="36576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4407408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kern="0" spc="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שאלת מחקר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07408" y="3566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כיצד לזהות קהילות קטנות של נוכלים (Cliques) </a:t>
            </a:r>
            <a:r>
              <a:rPr lang="he-IL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שמייצרות</a:t>
            </a: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לעצמן מוניטין מזויף?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10896" y="1691640"/>
            <a:ext cx="3657600" cy="3200400"/>
          </a:xfrm>
          <a:prstGeom prst="roundRect">
            <a:avLst>
              <a:gd name="adj" fmla="val 5143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0" dist="762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402336" y="1728216"/>
            <a:ext cx="347472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2322576" y="19659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400" dirty="0"/>
          </a:p>
        </p:txBody>
      </p:sp>
      <p:sp>
        <p:nvSpPr>
          <p:cNvPr id="24" name="Shape 22"/>
          <p:cNvSpPr/>
          <p:nvPr/>
        </p:nvSpPr>
        <p:spPr>
          <a:xfrm>
            <a:off x="3145536" y="3108960"/>
            <a:ext cx="548640" cy="36576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585216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kern="0" spc="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שאלת מחקר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5216" y="3566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כיצד ניתן לחזות האם קשת עתידית בין שני משתמשים תהיה </a:t>
            </a:r>
            <a:r>
              <a:rPr lang="en-US" sz="1400" dirty="0" err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אמינה</a:t>
            </a: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</a:t>
            </a: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הונאה?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15652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0" dist="762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8" name="Shape 26"/>
          <p:cNvSpPr/>
          <p:nvPr/>
        </p:nvSpPr>
        <p:spPr>
          <a:xfrm>
            <a:off x="640080" y="5157216"/>
            <a:ext cx="1088136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9" name="Shape 27"/>
          <p:cNvSpPr/>
          <p:nvPr/>
        </p:nvSpPr>
        <p:spPr>
          <a:xfrm>
            <a:off x="11475720" y="5212080"/>
            <a:ext cx="64008" cy="86868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731520" y="52303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מטרת העל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5532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פיתוח מודל לחיזוי אמינות קשרים עתידיים בין </a:t>
            </a:r>
            <a:r>
              <a:rPr lang="en-US" sz="1700" b="1" dirty="0" err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משתמשים</a:t>
            </a: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חיובית או שלילית.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bA"/>
          <p:cNvSpPr/>
          <p:nvPr/>
        </p:nvSpPr>
        <p:spPr>
          <a:xfrm>
            <a:off x="-1828800" y="1828800"/>
            <a:ext cx="5029200" cy="5029200"/>
          </a:xfrm>
          <a:prstGeom prst="ellipse">
            <a:avLst/>
          </a:prstGeom>
          <a:solidFill>
            <a:srgbClr val="A855F7">
              <a:alpha val="24000"/>
            </a:srgbClr>
          </a:solidFill>
          <a:ln/>
          <a:effectLst>
            <a:outerShdw blurRad="1270000" dist="50800" dir="16200000" algn="bl" rotWithShape="0">
              <a:srgbClr val="A855F7">
                <a:alpha val="6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" name="OrbB"/>
          <p:cNvSpPr/>
          <p:nvPr/>
        </p:nvSpPr>
        <p:spPr>
          <a:xfrm>
            <a:off x="9601200" y="3200400"/>
            <a:ext cx="4114800" cy="4114800"/>
          </a:xfrm>
          <a:prstGeom prst="ellipse">
            <a:avLst/>
          </a:prstGeom>
          <a:solidFill>
            <a:srgbClr val="EC4899">
              <a:alpha val="18000"/>
            </a:srgbClr>
          </a:solidFill>
          <a:ln/>
          <a:effectLst>
            <a:outerShdw blurRad="1270000" dist="50800" dir="16200000" algn="bl" rotWithShape="0">
              <a:srgbClr val="EC4899">
                <a:alpha val="5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kern="0" spc="5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OTC  ·  </a:t>
            </a:r>
            <a:r>
              <a:rPr lang="he-IL" sz="900" b="1" kern="0" spc="5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b="1" kern="0" spc="5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רשתות אמון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הדאטה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1750040" y="1280160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Ruppin Academic College  ·  Milestone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486400" cy="4572000"/>
          </a:xfrm>
          <a:prstGeom prst="roundRect">
            <a:avLst>
              <a:gd name="adj" fmla="val 36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0" dist="762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6217920" y="1728216"/>
            <a:ext cx="530352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640080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kern="0" spc="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 הנתונים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21945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 SNAP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0" y="2743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snap.stanford.edu/data/soc-sign-bitcoinotc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69680" y="3383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5,881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86968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צמתים (משתמשים)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3383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35,592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קשתות (דירוגים)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4846320"/>
            <a:ext cx="4937760" cy="36576"/>
          </a:xfrm>
          <a:prstGeom prst="rect">
            <a:avLst/>
          </a:prstGeom>
          <a:solidFill>
            <a:srgbClr val="A855F7">
              <a:alpha val="50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640080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טווח זמן: 2010 – 2016  ·  היסטוריה אמיתית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53949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דירוגים בטווח −10 (חוסר אמון מוחלט) עד +10 (אמון מלא).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1691640"/>
            <a:ext cx="5440680" cy="4572000"/>
          </a:xfrm>
          <a:prstGeom prst="roundRect">
            <a:avLst>
              <a:gd name="adj" fmla="val 36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0" dist="762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640080" y="1728216"/>
            <a:ext cx="525780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77724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kern="0" spc="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עמודות הדאטה (Meta-data)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60520" y="2441448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22D3EE">
              <a:alpha val="25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4160520" y="24414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247802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המשתמש המדרג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160520" y="3310128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416052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33467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המשתמש המדורג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160520" y="4178808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EC4899">
              <a:alpha val="25000"/>
            </a:srgbClr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4160520" y="41788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421538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הציון: −10 עד +10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160520" y="5047488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FBBF24">
              <a:alpha val="25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4" name="Text 32"/>
          <p:cNvSpPr/>
          <p:nvPr/>
        </p:nvSpPr>
        <p:spPr>
          <a:xfrm>
            <a:off x="4160520" y="50474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7240" y="508406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חותמת זמן (ניתוח כרונולוגי)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bA"/>
          <p:cNvSpPr/>
          <p:nvPr/>
        </p:nvSpPr>
        <p:spPr>
          <a:xfrm>
            <a:off x="9601200" y="1828800"/>
            <a:ext cx="5029200" cy="5029200"/>
          </a:xfrm>
          <a:prstGeom prst="ellipse">
            <a:avLst/>
          </a:prstGeom>
          <a:solidFill>
            <a:srgbClr val="A855F7">
              <a:alpha val="24000"/>
            </a:srgbClr>
          </a:solidFill>
          <a:ln/>
          <a:effectLst>
            <a:outerShdw blurRad="1270000" dist="50800" dir="16200000" algn="bl" rotWithShape="0">
              <a:srgbClr val="A855F7">
                <a:alpha val="6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" name="OrbB"/>
          <p:cNvSpPr/>
          <p:nvPr/>
        </p:nvSpPr>
        <p:spPr>
          <a:xfrm>
            <a:off x="-1828800" y="2743200"/>
            <a:ext cx="4114800" cy="4114800"/>
          </a:xfrm>
          <a:prstGeom prst="ellipse">
            <a:avLst/>
          </a:prstGeom>
          <a:solidFill>
            <a:srgbClr val="22D3EE">
              <a:alpha val="16000"/>
            </a:srgbClr>
          </a:solidFill>
          <a:ln/>
          <a:effectLst>
            <a:outerShdw blurRad="1270000" dist="50800" dir="16200000" algn="bl" rotWithShape="0">
              <a:srgbClr val="22D3EE">
                <a:alpha val="5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kern="0" spc="5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OTC  ·  </a:t>
            </a:r>
            <a:r>
              <a:rPr lang="he-IL" sz="900" b="1" kern="0" spc="5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b="1" kern="0" spc="5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רשתות אמון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אלגוריתמים ושיטות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1750040" y="1280160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Ruppin Academic College  ·  Milestone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955280" y="1691640"/>
            <a:ext cx="3657600" cy="4297680"/>
          </a:xfrm>
          <a:prstGeom prst="roundRect">
            <a:avLst>
              <a:gd name="adj" fmla="val 4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0" dist="762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8046720" y="1728216"/>
            <a:ext cx="347472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8119872" y="1856232"/>
            <a:ext cx="3328416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8229600" y="2020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CENTRALITY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0" y="23317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מדדי מרכזיות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229600" y="320040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22D3EE">
              <a:alpha val="20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822960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PageRank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37033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 רשת </a:t>
            </a:r>
            <a:r>
              <a:rPr lang="en-US" sz="12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האמון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לזיהוי הגרעין האמין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0" y="443484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22D3EE">
              <a:alpha val="20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8229600" y="4434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In-Degree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0" y="49377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 רשת חוסר </a:t>
            </a:r>
            <a:r>
              <a:rPr lang="en-US" sz="12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האמון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לאיתור נוכלים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87952" y="1691640"/>
            <a:ext cx="3657600" cy="4297680"/>
          </a:xfrm>
          <a:prstGeom prst="roundRect">
            <a:avLst>
              <a:gd name="adj" fmla="val 4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0" dist="762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4279392" y="1728216"/>
            <a:ext cx="347472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4352544" y="1856232"/>
            <a:ext cx="3328416" cy="54864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4462272" y="2020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COMMUNITY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62272" y="23317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זיהוי קהילות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4462272" y="320040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4462272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Louvain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62272" y="37033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לזיהוי קבוצות צפופות במהירות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62272" y="443484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Text 27"/>
          <p:cNvSpPr/>
          <p:nvPr/>
        </p:nvSpPr>
        <p:spPr>
          <a:xfrm>
            <a:off x="4462272" y="4434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Girvan-Newman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62272" y="49377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לאימות חתכי קצה חשודים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0624" y="1691640"/>
            <a:ext cx="3657600" cy="4297680"/>
          </a:xfrm>
          <a:prstGeom prst="roundRect">
            <a:avLst>
              <a:gd name="adj" fmla="val 4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0" dist="762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2" name="Shape 30"/>
          <p:cNvSpPr/>
          <p:nvPr/>
        </p:nvSpPr>
        <p:spPr>
          <a:xfrm>
            <a:off x="512064" y="1728216"/>
            <a:ext cx="347472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3" name="Shape 31"/>
          <p:cNvSpPr/>
          <p:nvPr/>
        </p:nvSpPr>
        <p:spPr>
          <a:xfrm>
            <a:off x="585216" y="1856232"/>
            <a:ext cx="3328416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4" name="Text 32"/>
          <p:cNvSpPr/>
          <p:nvPr/>
        </p:nvSpPr>
        <p:spPr>
          <a:xfrm>
            <a:off x="694944" y="2020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PREDICTION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944" y="23317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חיזוי קשרים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694944" y="320040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C4899">
              <a:alpha val="20000"/>
            </a:srgbClr>
          </a:solidFill>
          <a:ln w="12700">
            <a:solidFill>
              <a:srgbClr val="EC48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694944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 Balance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4944" y="37033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בהתבסס על משולשים ברשת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94944" y="443484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C4899">
              <a:alpha val="20000"/>
            </a:srgbClr>
          </a:solidFill>
          <a:ln w="12700">
            <a:solidFill>
              <a:srgbClr val="EC48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0" name="Text 38"/>
          <p:cNvSpPr/>
          <p:nvPr/>
        </p:nvSpPr>
        <p:spPr>
          <a:xfrm>
            <a:off x="694944" y="4434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Split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94944" y="49377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אימון על העבר, חיזוי על העתיד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bA"/>
          <p:cNvSpPr/>
          <p:nvPr/>
        </p:nvSpPr>
        <p:spPr>
          <a:xfrm>
            <a:off x="1371600" y="-914400"/>
            <a:ext cx="5486400" cy="5486400"/>
          </a:xfrm>
          <a:prstGeom prst="ellipse">
            <a:avLst/>
          </a:prstGeom>
          <a:solidFill>
            <a:srgbClr val="A855F7">
              <a:alpha val="22000"/>
            </a:srgbClr>
          </a:solidFill>
          <a:ln/>
          <a:effectLst>
            <a:outerShdw blurRad="1270000" dist="50800" dir="16200000" algn="bl" rotWithShape="0">
              <a:srgbClr val="A855F7">
                <a:alpha val="6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" name="OrbB"/>
          <p:cNvSpPr/>
          <p:nvPr/>
        </p:nvSpPr>
        <p:spPr>
          <a:xfrm>
            <a:off x="6858000" y="4114800"/>
            <a:ext cx="5029200" cy="5029200"/>
          </a:xfrm>
          <a:prstGeom prst="ellipse">
            <a:avLst/>
          </a:prstGeom>
          <a:solidFill>
            <a:srgbClr val="EC4899">
              <a:alpha val="18000"/>
            </a:srgbClr>
          </a:solidFill>
          <a:ln/>
          <a:effectLst>
            <a:outerShdw blurRad="1270000" dist="50800" dir="16200000" algn="bl" rotWithShape="0">
              <a:srgbClr val="EC4899">
                <a:alpha val="5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kern="0" spc="5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OTC  ·  </a:t>
            </a:r>
            <a:r>
              <a:rPr lang="he-IL" sz="900" b="1" kern="0" spc="5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b="1" kern="0" spc="5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רשתות אמון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גישת הפתרון ואופן ההערכה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1750040" y="1280160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Ruppin Academic College  ·  Milestone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3291840"/>
          </a:xfrm>
          <a:prstGeom prst="roundRect">
            <a:avLst>
              <a:gd name="adj" fmla="val 5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0" dist="762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6355080" y="1728216"/>
            <a:ext cx="516636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1475720" y="1783080"/>
            <a:ext cx="64008" cy="31089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3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מדידת הצלחה · לא Accuracy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21945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</a:t>
            </a:r>
            <a:r>
              <a:rPr lang="he-IL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600" b="1" dirty="0" err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מטעה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46520" y="292608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כ-90% מהדירוגים חיוביים, כך שמודל שמנחש "הכל אמין" מגיע ל-~0.87 Accuracy לבדו. לכן מודדים F1 ו-Recall לכל מחלקה, ולקהילות Sybil — יחס חוסר-האמון החיצוני (שכן אין Ground Truth מלא).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1691640"/>
            <a:ext cx="5486400" cy="3291840"/>
          </a:xfrm>
          <a:prstGeom prst="roundRect">
            <a:avLst>
              <a:gd name="adj" fmla="val 5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0" dist="762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640080" y="1728216"/>
            <a:ext cx="530352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548640" y="1783080"/>
            <a:ext cx="64008" cy="31089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73152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הפתרון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1945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 err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הצלבה</a:t>
            </a:r>
            <a:r>
              <a:rPr lang="he-IL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(Cross-Validation)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31520" y="292608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בדיקה האם קהילות חשודות שזיהינו אכן קיבלו דירוגים שליליים מצמתים בעלי PageRank גבוה לאורך הזמן.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166360"/>
            <a:ext cx="11064240" cy="1143000"/>
          </a:xfrm>
          <a:prstGeom prst="roundRect">
            <a:avLst>
              <a:gd name="adj" fmla="val 144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0" dist="762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640080" y="5202936"/>
            <a:ext cx="1088136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777240" y="528523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חלוקה לפי ציר הזמן  ·  Train / Test Split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29000" y="5715000"/>
            <a:ext cx="7955280" cy="320040"/>
          </a:xfrm>
          <a:prstGeom prst="roundRect">
            <a:avLst>
              <a:gd name="adj" fmla="val 14286"/>
            </a:avLst>
          </a:prstGeom>
          <a:solidFill>
            <a:srgbClr val="A855F7">
              <a:alpha val="70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777240" y="5715000"/>
            <a:ext cx="2651760" cy="320040"/>
          </a:xfrm>
          <a:prstGeom prst="roundRect">
            <a:avLst>
              <a:gd name="adj" fmla="val 14286"/>
            </a:avLst>
          </a:prstGeom>
          <a:solidFill>
            <a:srgbClr val="FBBF24">
              <a:alpha val="70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3429000" y="57150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 ·  2011–2014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5715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 ·  2015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bA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A855F7">
              <a:alpha val="22000"/>
            </a:srgbClr>
          </a:solidFill>
          <a:ln/>
          <a:effectLst>
            <a:outerShdw blurRad="1270000" dist="50800" dir="16200000" algn="bl" rotWithShape="0">
              <a:srgbClr val="A855F7">
                <a:alpha val="6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" name="OrbB"/>
          <p:cNvSpPr/>
          <p:nvPr/>
        </p:nvSpPr>
        <p:spPr>
          <a:xfrm>
            <a:off x="-914400" y="3200400"/>
            <a:ext cx="5029200" cy="5029200"/>
          </a:xfrm>
          <a:prstGeom prst="ellipse">
            <a:avLst/>
          </a:prstGeom>
          <a:solidFill>
            <a:srgbClr val="EC4899">
              <a:alpha val="18000"/>
            </a:srgbClr>
          </a:solidFill>
          <a:ln/>
          <a:effectLst>
            <a:outerShdw blurRad="1270000" dist="50800" dir="16200000" algn="bl" rotWithShape="0">
              <a:srgbClr val="EC4899">
                <a:alpha val="5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kern="0" spc="5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OTC  ·  </a:t>
            </a:r>
            <a:r>
              <a:rPr lang="he-IL" sz="900" b="1" kern="0" spc="5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b="1" kern="0" spc="5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רשתות אמון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מדדי הצלחה · איך מודדים הצלחה?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1750040" y="1280160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Ruppin Academic College  ·  Milestone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900" dirty="0"/>
          </a:p>
        </p:txBody>
      </p:sp>
      <p:sp>
        <p:nvSpPr>
          <p:cNvPr id="10" name="Text 2"/>
          <p:cNvSpPr/>
          <p:nvPr/>
        </p:nvSpPr>
        <p:spPr>
          <a:xfrm>
            <a:off x="365760" y="1335024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0" kern="0" spc="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הנוסחאות שמאחורי כל שלב — ממדדי מרכזיות ועד חיזוי קשרים</a:t>
            </a:r>
            <a:endParaRPr lang="en-US" sz="900" dirty="0"/>
          </a:p>
        </p:txBody>
      </p:sp>
      <p:pic>
        <p:nvPicPr>
          <p:cNvPr id="9" name="Picture 8" descr="assets_formul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964" y="1810512"/>
            <a:ext cx="10247023" cy="44622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bA"/>
          <p:cNvSpPr/>
          <p:nvPr/>
        </p:nvSpPr>
        <p:spPr>
          <a:xfrm>
            <a:off x="-1371600" y="2743200"/>
            <a:ext cx="5486400" cy="5486400"/>
          </a:xfrm>
          <a:prstGeom prst="ellipse">
            <a:avLst/>
          </a:prstGeom>
          <a:solidFill>
            <a:srgbClr val="A855F7">
              <a:alpha val="22000"/>
            </a:srgbClr>
          </a:solidFill>
          <a:ln/>
          <a:effectLst>
            <a:outerShdw blurRad="1270000" dist="50800" dir="16200000" algn="bl" rotWithShape="0">
              <a:srgbClr val="A855F7">
                <a:alpha val="6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" name="OrbB"/>
          <p:cNvSpPr/>
          <p:nvPr/>
        </p:nvSpPr>
        <p:spPr>
          <a:xfrm>
            <a:off x="7315200" y="-914400"/>
            <a:ext cx="5029200" cy="5029200"/>
          </a:xfrm>
          <a:prstGeom prst="ellipse">
            <a:avLst/>
          </a:prstGeom>
          <a:solidFill>
            <a:srgbClr val="EC4899">
              <a:alpha val="18000"/>
            </a:srgbClr>
          </a:solidFill>
          <a:ln/>
          <a:effectLst>
            <a:outerShdw blurRad="1270000" dist="50800" dir="16200000" algn="bl" rotWithShape="0">
              <a:srgbClr val="EC4899">
                <a:alpha val="5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kern="0" spc="5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OTC  ·  </a:t>
            </a:r>
            <a:r>
              <a:rPr lang="he-IL" sz="900" b="1" kern="0" spc="5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b="1" kern="0" spc="5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רשתות אמון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גרף לדוגמא · </a:t>
            </a:r>
            <a:r>
              <a:rPr lang="en-US" sz="3800" b="1" dirty="0" err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דפוס</a:t>
            </a: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800" b="1" dirty="0" err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התקפת</a:t>
            </a:r>
            <a:r>
              <a:rPr lang="he-IL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Sybil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1750040" y="1280160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Ruppin Academic College  ·  Milestone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900" dirty="0"/>
          </a:p>
        </p:txBody>
      </p:sp>
      <p:sp>
        <p:nvSpPr>
          <p:cNvPr id="10" name="Text 2"/>
          <p:cNvSpPr/>
          <p:nvPr/>
        </p:nvSpPr>
        <p:spPr>
          <a:xfrm>
            <a:off x="365760" y="1335024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0" kern="0" spc="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קהילה קטנה שמדרגת את עצמה חיובית — בעוד שכל הרשת מדרגת אותה שלילית</a:t>
            </a:r>
            <a:endParaRPr lang="en-US" sz="900" dirty="0"/>
          </a:p>
        </p:txBody>
      </p:sp>
      <p:pic>
        <p:nvPicPr>
          <p:cNvPr id="9" name="Picture 8" descr="assets_example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90" y="1810512"/>
            <a:ext cx="10098371" cy="44622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bA"/>
          <p:cNvSpPr/>
          <p:nvPr/>
        </p:nvSpPr>
        <p:spPr>
          <a:xfrm>
            <a:off x="6858000" y="914400"/>
            <a:ext cx="5486400" cy="5486400"/>
          </a:xfrm>
          <a:prstGeom prst="ellipse">
            <a:avLst/>
          </a:prstGeom>
          <a:solidFill>
            <a:srgbClr val="A855F7">
              <a:alpha val="24000"/>
            </a:srgbClr>
          </a:solidFill>
          <a:ln/>
          <a:effectLst>
            <a:outerShdw blurRad="1270000" dist="50800" dir="16200000" algn="bl" rotWithShape="0">
              <a:srgbClr val="A855F7">
                <a:alpha val="6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" name="OrbB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22D3EE">
              <a:alpha val="16000"/>
            </a:srgbClr>
          </a:solidFill>
          <a:ln/>
          <a:effectLst>
            <a:outerShdw blurRad="1270000" dist="50800" dir="16200000" algn="bl" rotWithShape="0">
              <a:srgbClr val="22D3EE">
                <a:alpha val="5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kern="0" spc="5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OTC  ·  </a:t>
            </a:r>
            <a:r>
              <a:rPr lang="he-IL" sz="900" b="1" kern="0" spc="5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ניתוח</a:t>
            </a:r>
            <a:r>
              <a:rPr lang="en-US" sz="900" b="1" kern="0" spc="5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רשתות אמון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תכנית פעולה  ·  עבודה שנותרה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1750040" y="1280160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Ruppin Academic College  ·  Milestone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44768" y="1783080"/>
            <a:ext cx="5486400" cy="2194560"/>
          </a:xfrm>
          <a:prstGeom prst="roundRect">
            <a:avLst>
              <a:gd name="adj" fmla="val 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0" dist="762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6236208" y="1819656"/>
            <a:ext cx="530352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0853928" y="205740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C084FC"/>
            </a:solidFill>
            <a:prstDash val="solid"/>
          </a:ln>
          <a:effectLst>
            <a:outerShdw blurRad="152400" dist="50800" dir="16200000" algn="bl" rotWithShape="0">
              <a:srgbClr val="A855F7">
                <a:alpha val="8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1085392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64808" y="21488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סיום אלגוריתם זיהוי הקהילות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64808" y="274320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השלמת הרצת Louvain ומיפוי הקליקות החשודות.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1783080"/>
            <a:ext cx="5486400" cy="2194560"/>
          </a:xfrm>
          <a:prstGeom prst="roundRect">
            <a:avLst>
              <a:gd name="adj" fmla="val 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0" dist="762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640080" y="1819656"/>
            <a:ext cx="530352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5257800" y="205740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C084FC"/>
            </a:solidFill>
            <a:prstDash val="solid"/>
          </a:ln>
          <a:effectLst>
            <a:outerShdw blurRad="152400" dist="50800" dir="16200000" algn="bl" rotWithShape="0">
              <a:srgbClr val="A855F7">
                <a:alpha val="8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52578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21488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יישום וחישוב חיזוי קשרים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" y="274320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trust-F1 גבוה (0.93) אך fraud-recall נמוך (0.06) — שיפורו (SMOTE / cost-sensitive) הוא היעד המרכזי.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44768" y="4142232"/>
            <a:ext cx="5486400" cy="2194560"/>
          </a:xfrm>
          <a:prstGeom prst="roundRect">
            <a:avLst>
              <a:gd name="adj" fmla="val 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0" dist="762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6236208" y="4178808"/>
            <a:ext cx="530352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3" name="Shape 21"/>
          <p:cNvSpPr/>
          <p:nvPr/>
        </p:nvSpPr>
        <p:spPr>
          <a:xfrm>
            <a:off x="10853928" y="4416552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C084FC"/>
            </a:solidFill>
            <a:prstDash val="solid"/>
          </a:ln>
          <a:effectLst>
            <a:outerShdw blurRad="152400" dist="50800" dir="16200000" algn="bl" rotWithShape="0">
              <a:srgbClr val="A855F7">
                <a:alpha val="8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10853928" y="4416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64808" y="45079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מסקנות וויזואליזציות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64808" y="510235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גרפים ברורים שתומכים בטיעונים — לצירוף לדוח.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142232"/>
            <a:ext cx="5486400" cy="2194560"/>
          </a:xfrm>
          <a:prstGeom prst="roundRect">
            <a:avLst>
              <a:gd name="adj" fmla="val 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0" dist="762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8" name="Shape 26"/>
          <p:cNvSpPr/>
          <p:nvPr/>
        </p:nvSpPr>
        <p:spPr>
          <a:xfrm>
            <a:off x="640080" y="4178808"/>
            <a:ext cx="530352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9" name="Shape 27"/>
          <p:cNvSpPr/>
          <p:nvPr/>
        </p:nvSpPr>
        <p:spPr>
          <a:xfrm>
            <a:off x="5257800" y="4416552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C084FC"/>
            </a:solidFill>
            <a:prstDash val="solid"/>
          </a:ln>
          <a:effectLst>
            <a:outerShdw blurRad="152400" dist="50800" dir="16200000" algn="bl" rotWithShape="0">
              <a:srgbClr val="A855F7">
                <a:alpha val="8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5257800" y="4416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68680" y="45079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כתיבת דוח מסכם</a:t>
            </a:r>
            <a:endParaRPr lang="en-US" sz="1800" dirty="0"/>
          </a:p>
        </p:txBody>
      </p:sp>
      <p:sp>
        <p:nvSpPr>
          <p:cNvPr id="32" name="Text 24"/>
          <p:cNvSpPr/>
          <p:nvPr/>
        </p:nvSpPr>
        <p:spPr>
          <a:xfrm>
            <a:off x="868680" y="510235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כתיבת הדוח המסכם (6–8 עמ'): מבוא, עבודה קשורה, שיטה, תוצאות ומסקנות עם פירוש הממצאים.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bA"/>
          <p:cNvSpPr/>
          <p:nvPr/>
        </p:nvSpPr>
        <p:spPr>
          <a:xfrm>
            <a:off x="2286000" y="-457200"/>
            <a:ext cx="7772400" cy="7772400"/>
          </a:xfrm>
          <a:prstGeom prst="ellipse">
            <a:avLst/>
          </a:prstGeom>
          <a:solidFill>
            <a:srgbClr val="A855F7">
              <a:alpha val="35000"/>
            </a:srgbClr>
          </a:solidFill>
          <a:ln/>
          <a:effectLst>
            <a:outerShdw blurRad="1270000" dist="50800" dir="16200000" algn="bl" rotWithShape="0">
              <a:srgbClr val="A855F7">
                <a:alpha val="6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" name="OrbB"/>
          <p:cNvSpPr/>
          <p:nvPr/>
        </p:nvSpPr>
        <p:spPr>
          <a:xfrm>
            <a:off x="5029200" y="2286000"/>
            <a:ext cx="2286000" cy="2286000"/>
          </a:xfrm>
          <a:prstGeom prst="ellipse">
            <a:avLst/>
          </a:prstGeom>
          <a:solidFill>
            <a:srgbClr val="EC4899">
              <a:alpha val="22000"/>
            </a:srgbClr>
          </a:solidFill>
          <a:ln/>
          <a:effectLst>
            <a:outerShdw blurRad="1270000" dist="50800" dir="16200000" algn="bl" rotWithShape="0">
              <a:srgbClr val="EC4899">
                <a:alpha val="5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4937760" y="1280160"/>
            <a:ext cx="2331720" cy="2331720"/>
          </a:xfrm>
          <a:prstGeom prst="ellipse">
            <a:avLst/>
          </a:prstGeom>
          <a:solidFill>
            <a:srgbClr val="A855F7">
              <a:alpha val="4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635000" dist="50800" dir="16200000" algn="bl" rotWithShape="0">
              <a:srgbClr val="A855F7">
                <a:alpha val="8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937760" y="1280160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6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תודה על ההקשבה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8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OTC  ·  ניתוח רשתות אמון  ·  המכללה האקדמית רופין</a:t>
            </a:r>
            <a:endParaRPr lang="en-US" sz="1100" dirty="0"/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654</Words>
  <Application>Microsoft Macintosh PowerPoint</Application>
  <PresentationFormat>Widescreen</PresentationFormat>
  <Paragraphs>132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Bitcoin OTC – Scam Detection</dc:title>
  <dc:subject>PptxGenJS Presentation</dc:subject>
  <dc:creator>StoryTeller</dc:creator>
  <cp:lastModifiedBy>נבו יפלח</cp:lastModifiedBy>
  <cp:revision>8</cp:revision>
  <dcterms:created xsi:type="dcterms:W3CDTF">2026-05-07T12:30:01Z</dcterms:created>
  <dcterms:modified xsi:type="dcterms:W3CDTF">2026-06-13T15:03:17Z</dcterms:modified>
</cp:coreProperties>
</file>